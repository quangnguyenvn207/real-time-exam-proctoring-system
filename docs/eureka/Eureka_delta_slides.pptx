
<file path=[Content_Types].xml><?xml version="1.0" encoding="utf-8"?>
<Types xmlns="http://schemas.openxmlformats.org/package/2006/content-types"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3"/>
    <p:sldId id="269" r:id="rId15"/>
    <p:sldId id="270" r:id="rId16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323596F-F24B-4DFB-AF33-7644531465A9}"/>
              </a:ext>
            </a:extLst>
          </p:cNvPr>
          <p:cNvSpPr txBox="1"/>
          <p:nvPr/>
        </p:nvSpPr>
        <p:spPr>
          <a:xfrm>
            <a:off x="762000" y="1428750"/>
            <a:ext cx="647700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F2F5F9"/>
                </a:solidFill>
                <a:latin typeface="Arial"/>
                <a:ea typeface="Arial"/>
              </a:rPr>
              <a:t>BỐN MÔ HÌNH AI,</a:t>
            </a:r>
          </a:p>
          <a:p>
            <a:pPr algn="l">
              <a:lnSpc>
                <a:spcPct val="108000"/>
              </a:lnSpc>
            </a:pPr>
            <a:r>
              <a:rPr sz="4200" b="1">
                <a:solidFill>
                  <a:srgbClr val="34D399"/>
                </a:solidFill>
                <a:latin typeface="Arial"/>
                <a:ea typeface="Arial"/>
              </a:rPr>
              <a:t>MỘT CHIẾC LAPTOP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87BD3E-741F-4073-BD58-794A917C9375}"/>
              </a:ext>
            </a:extLst>
          </p:cNvPr>
          <p:cNvSpPr txBox="1"/>
          <p:nvPr/>
        </p:nvSpPr>
        <p:spPr>
          <a:xfrm>
            <a:off x="762000" y="3543300"/>
            <a:ext cx="62865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C7D2E0"/>
                </a:solidFill>
                <a:latin typeface="Arial"/>
                <a:ea typeface="Arial"/>
              </a:rPr>
              <a:t>Giám sát phòng thi thời gian thực trên thiết bị biên: những phát biểu mới đã được đo, và những giới hạn chúng tôi nói trước.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9C1F4A-680A-4363-8F47-B5EB6E5DF818}"/>
              </a:ext>
            </a:extLst>
          </p:cNvPr>
          <p:cNvSpPr/>
          <p:nvPr/>
        </p:nvSpPr>
        <p:spPr>
          <a:xfrm>
            <a:off x="7620000" y="1428750"/>
            <a:ext cx="3810000" cy="238125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ED7B3D9-2752-4C42-8379-EFAB01B3514D}"/>
              </a:ext>
            </a:extLst>
          </p:cNvPr>
          <p:cNvSpPr txBox="1"/>
          <p:nvPr/>
        </p:nvSpPr>
        <p:spPr>
          <a:xfrm>
            <a:off x="7810500" y="1809750"/>
            <a:ext cx="342900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6800" b="1">
                <a:solidFill>
                  <a:srgbClr val="34D399"/>
                </a:solidFill>
                <a:latin typeface="Arial"/>
                <a:ea typeface="Arial"/>
              </a:rPr>
              <a:t>50</a:t>
            </a:r>
            <a:r>
              <a:rPr sz="2600" b="1">
                <a:solidFill>
                  <a:srgbClr val="F2F5F9"/>
                </a:solidFill>
                <a:latin typeface="Arial"/>
                <a:ea typeface="Arial"/>
              </a:rPr>
              <a:t> ms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ngân sách cho MỖI khung hình</a:t>
            </a:r>
          </a:p>
          <a:p>
            <a:pPr algn="ctr">
              <a:lnSpc>
                <a:spcPct val="125000"/>
              </a:lnSpc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khi 4 mô hình cùng chạy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8A7464F-5EE3-4C3E-9453-251F255CCEB9}"/>
              </a:ext>
            </a:extLst>
          </p:cNvPr>
          <p:cNvSpPr/>
          <p:nvPr/>
        </p:nvSpPr>
        <p:spPr>
          <a:xfrm>
            <a:off x="7620000" y="4095750"/>
            <a:ext cx="3810000" cy="11430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FA103BA-79F9-4EF9-A316-567AE044B31D}"/>
              </a:ext>
            </a:extLst>
          </p:cNvPr>
          <p:cNvSpPr txBox="1"/>
          <p:nvPr/>
        </p:nvSpPr>
        <p:spPr>
          <a:xfrm>
            <a:off x="7810500" y="43053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F59E0B"/>
                </a:solidFill>
                <a:latin typeface="Arial"/>
                <a:ea typeface="Arial"/>
              </a:rPr>
              <a:t>2.5–3.2</a:t>
            </a:r>
            <a:r>
              <a:rPr sz="1600">
                <a:solidFill>
                  <a:srgbClr val="F2F5F9"/>
                </a:solidFill>
                <a:latin typeface="Arial"/>
                <a:ea typeface="Arial"/>
              </a:rPr>
              <a:t> / 22 core</a:t>
            </a:r>
          </a:p>
          <a:p>
            <a:pPr algn="ctr">
              <a:lnSpc>
                <a:spcPct val="12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tổng CPU của cả ứng dụng (đo trên máy này)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CE9EA80-9C2E-4BAF-9ED7-607B6BD8E84D}"/>
              </a:ext>
            </a:extLst>
          </p:cNvPr>
          <p:cNvSpPr txBox="1"/>
          <p:nvPr/>
        </p:nvSpPr>
        <p:spPr>
          <a:xfrm>
            <a:off x="762000" y="5334000"/>
            <a:ext cx="6286500" cy="9906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Vòng chung kết Giải thưởng Sinh viên Nghiên cứu Khoa học Euréka 2026 · Lĩnh vực Công nghệ thông tin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Máy trình bày: Intel Core Ultra 7 155H + iGPU Arc · 15 GB RAM · Ubuntu/WSL2 · không dùng dịch vụ đám mây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B38CAD8-90EC-4EB3-9F70-D316E090061F}"/>
              </a:ext>
            </a:extLst>
          </p:cNvPr>
          <p:cNvSpPr txBox="1"/>
          <p:nvPr/>
        </p:nvSpPr>
        <p:spPr>
          <a:xfrm>
            <a:off x="762000" y="5334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2F5F9"/>
                </a:solidFill>
                <a:latin typeface="Arial"/>
                <a:ea typeface="Arial"/>
              </a:rPr>
              <a:t>BA KHOẢNG TRỐNG CHÍNH BẢN CŨ TỰ KHAI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3C42138-62D5-42E0-9FAE-AB5408F90D39}"/>
              </a:ext>
            </a:extLst>
          </p:cNvPr>
          <p:cNvSpPr txBox="1"/>
          <p:nvPr/>
        </p:nvSpPr>
        <p:spPr>
          <a:xfrm>
            <a:off x="762000" y="110490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Ba câu dưới đây là nguyên văn trong tài liệu hội đồng đã đọc. Chúng tôi không chữa cháy — chúng tôi đo.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1D3777F-C958-4365-B780-ACC2DC2676A6}"/>
              </a:ext>
            </a:extLst>
          </p:cNvPr>
          <p:cNvSpPr/>
          <p:nvPr/>
        </p:nvSpPr>
        <p:spPr>
          <a:xfrm>
            <a:off x="762000" y="1676400"/>
            <a:ext cx="3238500" cy="38100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D45E6F-5011-4496-B692-3B4F9A4C98CA}"/>
              </a:ext>
            </a:extLst>
          </p:cNvPr>
          <p:cNvSpPr txBox="1"/>
          <p:nvPr/>
        </p:nvSpPr>
        <p:spPr>
          <a:xfrm>
            <a:off x="990600" y="1905000"/>
            <a:ext cx="27813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§5.9  fps end-to-end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65E62A1-8EAC-4D96-B97F-104B83D4967D}"/>
              </a:ext>
            </a:extLst>
          </p:cNvPr>
          <p:cNvSpPr txBox="1"/>
          <p:nvPr/>
        </p:nvSpPr>
        <p:spPr>
          <a:xfrm>
            <a:off x="990600" y="2209800"/>
            <a:ext cx="2781300" cy="1238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i="1">
                <a:solidFill>
                  <a:srgbClr val="8FA1B8"/>
                </a:solidFill>
                <a:latin typeface="Arial"/>
                <a:ea typeface="Arial"/>
              </a:rPr>
              <a:t>“8 FPS là cấu hình lấy mẫu tầng pose, không phải FPS đã đo cho cả bốn mô-đun đồng thời.”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DC55B01-7E11-4B8C-AA27-A1A81531BC55}"/>
              </a:ext>
            </a:extLst>
          </p:cNvPr>
          <p:cNvSpPr txBox="1"/>
          <p:nvPr/>
        </p:nvSpPr>
        <p:spPr>
          <a:xfrm>
            <a:off x="990600" y="3543300"/>
            <a:ext cx="27813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  <a:ea typeface="Arial"/>
              </a:rPr>
              <a:t>BÂY GIỜ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CAFD7D-F6DD-4544-B7B9-9E6A2CF54CC8}"/>
              </a:ext>
            </a:extLst>
          </p:cNvPr>
          <p:cNvSpPr txBox="1"/>
          <p:nvPr/>
        </p:nvSpPr>
        <p:spPr>
          <a:xfrm>
            <a:off x="990600" y="3790950"/>
            <a:ext cx="2781300" cy="16764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Replay 480 frame @30 fps, cả 4 module bật: callback p50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4.5 ms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. Telemetry fps / p95 / frame rớt của từng luồng hiển thị ngay trên UI.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D0507F3-79CD-4811-A62F-D8082B66DEBA}"/>
              </a:ext>
            </a:extLst>
          </p:cNvPr>
          <p:cNvSpPr/>
          <p:nvPr/>
        </p:nvSpPr>
        <p:spPr>
          <a:xfrm>
            <a:off x="4476750" y="1676400"/>
            <a:ext cx="3238500" cy="38100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F1263B2-B297-40F0-9437-3532625BBC6C}"/>
              </a:ext>
            </a:extLst>
          </p:cNvPr>
          <p:cNvSpPr txBox="1"/>
          <p:nvPr/>
        </p:nvSpPr>
        <p:spPr>
          <a:xfrm>
            <a:off x="4705350" y="1905000"/>
            <a:ext cx="27813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§5.7  âm thanh realtime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F8CD45-7E3E-4767-ADEE-07A3473BE005}"/>
              </a:ext>
            </a:extLst>
          </p:cNvPr>
          <p:cNvSpPr txBox="1"/>
          <p:nvPr/>
        </p:nvSpPr>
        <p:spPr>
          <a:xfrm>
            <a:off x="4705350" y="2209800"/>
            <a:ext cx="2781300" cy="1238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i="1">
                <a:solidFill>
                  <a:srgbClr val="8FA1B8"/>
                </a:solidFill>
                <a:latin typeface="Arial"/>
                <a:ea typeface="Arial"/>
              </a:rPr>
              <a:t>“Thời gian CPU trung bình là 15.69 giây/cặp, chưa đáp ứng xử lý tuần tự thời gian thực.”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183D6EB-9FD6-43A2-B439-5DDB4052C218}"/>
              </a:ext>
            </a:extLst>
          </p:cNvPr>
          <p:cNvSpPr txBox="1"/>
          <p:nvPr/>
        </p:nvSpPr>
        <p:spPr>
          <a:xfrm>
            <a:off x="4705350" y="3543300"/>
            <a:ext cx="27813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  <a:ea typeface="Arial"/>
              </a:rPr>
              <a:t>BÂY GIỜ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CD5D711-5028-4547-9C4B-8A311E653F98}"/>
              </a:ext>
            </a:extLst>
          </p:cNvPr>
          <p:cNvSpPr txBox="1"/>
          <p:nvPr/>
        </p:nvSpPr>
        <p:spPr>
          <a:xfrm>
            <a:off x="4705350" y="3790950"/>
            <a:ext cx="2781300" cy="16764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PhoWhisper-small trên iGPU OpenVINO: p50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1.29 s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/câu, RTF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0.56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 — không còn là bước chặn realtime, đo trên 43 file có nhãn.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7D6380D-F008-4E7E-BACA-ECF3CB00E457}"/>
              </a:ext>
            </a:extLst>
          </p:cNvPr>
          <p:cNvSpPr/>
          <p:nvPr/>
        </p:nvSpPr>
        <p:spPr>
          <a:xfrm>
            <a:off x="8191500" y="1676400"/>
            <a:ext cx="3238500" cy="38100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A1BA1DD-64C2-4BC1-A98D-B521AE5A2025}"/>
              </a:ext>
            </a:extLst>
          </p:cNvPr>
          <p:cNvSpPr txBox="1"/>
          <p:nvPr/>
        </p:nvSpPr>
        <p:spPr>
          <a:xfrm>
            <a:off x="8420100" y="1905000"/>
            <a:ext cx="27813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§4.9  bằng chứng đang chạy thật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40E70AF-D4DE-4F75-B9C6-50AEEDCB5BAD}"/>
              </a:ext>
            </a:extLst>
          </p:cNvPr>
          <p:cNvSpPr txBox="1"/>
          <p:nvPr/>
        </p:nvSpPr>
        <p:spPr>
          <a:xfrm>
            <a:off x="8420100" y="2209800"/>
            <a:ext cx="2781300" cy="1238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i="1">
                <a:solidFill>
                  <a:srgbClr val="8FA1B8"/>
                </a:solidFill>
                <a:latin typeface="Arial"/>
                <a:ea typeface="Arial"/>
              </a:rPr>
              <a:t>“Việc có một lệnh khởi động thành công chưa đủ để xác nhận đang chạy mô hình thực.”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8E9EB7A-AFBA-4A96-B8DB-85764D3D3DE4}"/>
              </a:ext>
            </a:extLst>
          </p:cNvPr>
          <p:cNvSpPr txBox="1"/>
          <p:nvPr/>
        </p:nvSpPr>
        <p:spPr>
          <a:xfrm>
            <a:off x="8420100" y="3543300"/>
            <a:ext cx="27813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  <a:ea typeface="Arial"/>
              </a:rPr>
              <a:t>BÂY GIỜ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82D4DAD-E780-4E09-94AB-0735656FDFCC}"/>
              </a:ext>
            </a:extLst>
          </p:cNvPr>
          <p:cNvSpPr txBox="1"/>
          <p:nvPr/>
        </p:nvSpPr>
        <p:spPr>
          <a:xfrm>
            <a:off x="8420100" y="3790950"/>
            <a:ext cx="2781300" cy="16764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Mỗi con số kèm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lệnh tái lập + timestamp + máy đo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; report.json ghi lại config (module, stride, device) của đúng lần chạy.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3D336DD-D273-48C2-BADF-6B2FEB545C3F}"/>
              </a:ext>
            </a:extLst>
          </p:cNvPr>
          <p:cNvSpPr txBox="1"/>
          <p:nvPr/>
        </p:nvSpPr>
        <p:spPr>
          <a:xfrm>
            <a:off x="762000" y="57531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Máy M1: Intel Core Ultra 7 155H + iGPU Arc, 15 GB, Ubuntu/WSL2. Máy M2: Ryzen 7 7435HS + RTX 4050, WSL2.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DDCCAFA-91FE-45F5-843D-A62B204B72FE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5F9"/>
                </a:solidFill>
                <a:latin typeface="Arial"/>
                <a:ea typeface="Arial"/>
              </a:rPr>
              <a:t>1 · CÁCH LY GIL: ĐA LUỒNG PYTHON KHÔNG PHẢI LÀ SONG SONG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7866B2-5A98-4A05-AC2D-6180FB58E3CF}"/>
              </a:ext>
            </a:extLst>
          </p:cNvPr>
          <p:cNvSpPr txBox="1"/>
          <p:nvPr/>
        </p:nvSpPr>
        <p:spPr>
          <a:xfrm>
            <a:off x="762000" y="1028700"/>
            <a:ext cx="10668000" cy="55473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MediaPipe Tasks giữ GIL suốt lượt suy luận. Callback WebRTC cũng là thread Python → bị chặn → streamlit_webrtc trả lại _last_out_frame: hình vừa giật vừa trễ dần.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DB70D07-8080-4C65-BF1C-946F34A722C7}"/>
              </a:ext>
            </a:extLst>
          </p:cNvPr>
          <p:cNvSpPr/>
          <p:nvPr/>
        </p:nvSpPr>
        <p:spPr>
          <a:xfrm>
            <a:off x="762000" y="1676400"/>
            <a:ext cx="5143500" cy="33909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7F3664-2C7C-478D-A0C6-F08AC369FE0C}"/>
              </a:ext>
            </a:extLst>
          </p:cNvPr>
          <p:cNvSpPr txBox="1"/>
          <p:nvPr/>
        </p:nvSpPr>
        <p:spPr>
          <a:xfrm>
            <a:off x="990600" y="1905000"/>
            <a:ext cx="46863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TRONG CÙNG TIẾN TRÌNH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883FCD-FCE2-4043-9027-4D10CF037EC7}"/>
              </a:ext>
            </a:extLst>
          </p:cNvPr>
          <p:cNvSpPr txBox="1"/>
          <p:nvPr/>
        </p:nvSpPr>
        <p:spPr>
          <a:xfrm>
            <a:off x="990600" y="2286000"/>
            <a:ext cx="4686300" cy="2762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GIL bị giữ mỗi tick (2 người):  </a:t>
            </a:r>
            <a:r>
              <a:rPr sz="1600" b="1">
                <a:solidFill>
                  <a:srgbClr val="F59E0B"/>
                </a:solidFill>
                <a:latin typeface="Arial"/>
                <a:ea typeface="Arial"/>
              </a:rPr>
              <a:t>100–113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Lần đầu (cold start):  </a:t>
            </a:r>
            <a:r>
              <a:rPr sz="1600" b="1">
                <a:solidFill>
                  <a:srgbClr val="F59E0B"/>
                </a:solidFill>
                <a:latin typeface="Arial"/>
                <a:ea typeface="Arial"/>
              </a:rPr>
              <a:t>886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callback p50 / p95:  </a:t>
            </a:r>
            <a:r>
              <a:rPr sz="1600" b="1">
                <a:solidFill>
                  <a:srgbClr val="F59E0B"/>
                </a:solidFill>
                <a:latin typeface="Arial"/>
                <a:ea typeface="Arial"/>
              </a:rPr>
              <a:t>32.9 / 83.0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vẽ overlay p95:  </a:t>
            </a:r>
            <a:r>
              <a:rPr sz="1600" b="1">
                <a:solidFill>
                  <a:srgbClr val="F59E0B"/>
                </a:solidFill>
                <a:latin typeface="Arial"/>
                <a:ea typeface="Arial"/>
              </a:rPr>
              <a:t>41.5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VP8 encode p50:  </a:t>
            </a:r>
            <a:r>
              <a:rPr sz="1600" b="1">
                <a:solidFill>
                  <a:srgbClr val="F59E0B"/>
                </a:solidFill>
                <a:latin typeface="Arial"/>
                <a:ea typeface="Arial"/>
              </a:rPr>
              <a:t>24.1 ms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1C9CED9-56D7-4365-8D7B-3E1AD3B976F7}"/>
              </a:ext>
            </a:extLst>
          </p:cNvPr>
          <p:cNvSpPr/>
          <p:nvPr/>
        </p:nvSpPr>
        <p:spPr>
          <a:xfrm>
            <a:off x="6286500" y="1676400"/>
            <a:ext cx="5143500" cy="3390900"/>
          </a:xfrm>
          <a:prstGeom prst="roundRect">
            <a:avLst/>
          </a:prstGeom>
          <a:solidFill>
            <a:srgbClr val="17233A"/>
          </a:solidFill>
          <a:ln w="19050">
            <a:solidFill>
              <a:srgbClr val="34D39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00AF236-57A2-4DE1-B40D-82AA6803712D}"/>
              </a:ext>
            </a:extLst>
          </p:cNvPr>
          <p:cNvSpPr txBox="1"/>
          <p:nvPr/>
        </p:nvSpPr>
        <p:spPr>
          <a:xfrm>
            <a:off x="6515100" y="1905000"/>
            <a:ext cx="46863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HOLISTIC CHẠY Ở TIẾN TRÌNH RIÊNG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DBD36D-03E8-4061-8B66-0CC400981344}"/>
              </a:ext>
            </a:extLst>
          </p:cNvPr>
          <p:cNvSpPr txBox="1"/>
          <p:nvPr/>
        </p:nvSpPr>
        <p:spPr>
          <a:xfrm>
            <a:off x="6515100" y="2286000"/>
            <a:ext cx="4686300" cy="2762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GIL bị giữ:  </a:t>
            </a:r>
            <a:r>
              <a:rPr sz="1600" b="1">
                <a:solidFill>
                  <a:srgbClr val="34D399"/>
                </a:solidFill>
                <a:latin typeface="Arial"/>
                <a:ea typeface="Arial"/>
              </a:rPr>
              <a:t>0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callback p50 / p95:  </a:t>
            </a:r>
            <a:r>
              <a:rPr sz="1600" b="1">
                <a:solidFill>
                  <a:srgbClr val="34D399"/>
                </a:solidFill>
                <a:latin typeface="Arial"/>
                <a:ea typeface="Arial"/>
              </a:rPr>
              <a:t>13.3 / 24.0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vẽ overlay p95:  </a:t>
            </a:r>
            <a:r>
              <a:rPr sz="1600" b="1">
                <a:solidFill>
                  <a:srgbClr val="34D399"/>
                </a:solidFill>
                <a:latin typeface="Arial"/>
                <a:ea typeface="Arial"/>
              </a:rPr>
              <a:t>6.0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VP8 encode p50:  </a:t>
            </a:r>
            <a:r>
              <a:rPr sz="1600" b="1">
                <a:solidFill>
                  <a:srgbClr val="34D399"/>
                </a:solidFill>
                <a:latin typeface="Arial"/>
                <a:ea typeface="Arial"/>
              </a:rPr>
              <a:t>10.5 ms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p95 giảm </a:t>
            </a:r>
            <a:r>
              <a:rPr sz="1600" b="1">
                <a:solidFill>
                  <a:srgbClr val="34D399"/>
                </a:solidFill>
                <a:latin typeface="Arial"/>
                <a:ea typeface="Arial"/>
              </a:rPr>
              <a:t>3.5 lần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 — cùng model, cùng code suy luận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179E53F-8270-4141-AFE0-7B2AFAF285EF}"/>
              </a:ext>
            </a:extLst>
          </p:cNvPr>
          <p:cNvSpPr txBox="1"/>
          <p:nvPr/>
        </p:nvSpPr>
        <p:spPr>
          <a:xfrm>
            <a:off x="762000" y="52578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Cơ chế: socket AF_UNIX + pickle, nice 10, dành 4 core, watchdog restart ≤ 3 lần rồi mới rơi về in-process.  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Số ở trên đo trên M2 (RTX 4050). Trên M1 (máy demo hôm nay): ~31 ms/tick, remote=3 fallback=0 — selftest: holistic_worker --selftest.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F8BC919-C97C-4A21-A807-AD5BC6C027AC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5F9"/>
                </a:solidFill>
                <a:latin typeface="Arial"/>
                <a:ea typeface="Arial"/>
              </a:rPr>
              <a:t>2 · LỊCH NHỊP NHÂN QUẢ: CHẠY ĐÚNG NHỊP MÔ HÌNH CẦN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1B58C5-7D5E-4709-8F4E-4444E0AB22AD}"/>
              </a:ext>
            </a:extLst>
          </p:cNvPr>
          <p:cNvSpPr txBox="1"/>
          <p:nvPr/>
        </p:nvSpPr>
        <p:spPr>
          <a:xfrm>
            <a:off x="762000" y="163830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8800" b="1">
                <a:solidFill>
                  <a:srgbClr val="34D399"/>
                </a:solidFill>
                <a:latin typeface="Arial"/>
                <a:ea typeface="Arial"/>
              </a:rPr>
              <a:t>104.1</a:t>
            </a:r>
            <a:r>
              <a:rPr sz="3200" b="1">
                <a:solidFill>
                  <a:srgbClr val="F2F5F9"/>
                </a:solidFill>
                <a:latin typeface="Arial"/>
                <a:ea typeface="Arial"/>
              </a:rPr>
              <a:t> 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763A9C-EE28-492B-B6E2-9820E2B6B607}"/>
              </a:ext>
            </a:extLst>
          </p:cNvPr>
          <p:cNvSpPr txBox="1"/>
          <p:nvPr/>
        </p:nvSpPr>
        <p:spPr>
          <a:xfrm>
            <a:off x="762000" y="3048000"/>
            <a:ext cx="49530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xử lý 16.8 s video với 4 module, thay vì </a:t>
            </a: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225.8 s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 — nhanh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2.17 lần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B41B1E4-EF3F-46BB-A6F9-06BA8750DD98}"/>
              </a:ext>
            </a:extLst>
          </p:cNvPr>
          <p:cNvSpPr/>
          <p:nvPr/>
        </p:nvSpPr>
        <p:spPr>
          <a:xfrm>
            <a:off x="762000" y="3810000"/>
            <a:ext cx="4953000" cy="123825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7F25C72-5685-4D04-8C6E-4521F986CD10}"/>
              </a:ext>
            </a:extLst>
          </p:cNvPr>
          <p:cNvSpPr txBox="1"/>
          <p:nvPr/>
        </p:nvSpPr>
        <p:spPr>
          <a:xfrm>
            <a:off x="990600" y="3981450"/>
            <a:ext cx="449580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Hành vi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8 fps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   ·   Thị giác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10 fps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Giấy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mỗi 5 frame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   ·   callback p50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4.5 ms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C54F90D-5199-465C-92BE-20251E4F9AC2}"/>
              </a:ext>
            </a:extLst>
          </p:cNvPr>
          <p:cNvSpPr/>
          <p:nvPr/>
        </p:nvSpPr>
        <p:spPr>
          <a:xfrm>
            <a:off x="6286500" y="1638300"/>
            <a:ext cx="5143500" cy="11049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92B23D-3009-4A8D-BE86-323838B12D09}"/>
              </a:ext>
            </a:extLst>
          </p:cNvPr>
          <p:cNvSpPr txBox="1"/>
          <p:nvPr/>
        </p:nvSpPr>
        <p:spPr>
          <a:xfrm>
            <a:off x="6515100" y="1790700"/>
            <a:ext cx="4686300" cy="85344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4D399"/>
                </a:solidFill>
                <a:latin typeface="Arial"/>
                <a:ea typeface="Arial"/>
              </a:rPr>
              <a:t>RÀNG BUỘC 1 — KHOA HỌC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temporal_policy.json ghi target_fps = 8: mô hình được train ở nhịp đó.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CE320DC-696B-447D-A574-F7975A1DB858}"/>
              </a:ext>
            </a:extLst>
          </p:cNvPr>
          <p:cNvSpPr/>
          <p:nvPr/>
        </p:nvSpPr>
        <p:spPr>
          <a:xfrm>
            <a:off x="6286500" y="2857500"/>
            <a:ext cx="5143500" cy="11049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1482719-288D-4649-A459-5ADC7861979C}"/>
              </a:ext>
            </a:extLst>
          </p:cNvPr>
          <p:cNvSpPr txBox="1"/>
          <p:nvPr/>
        </p:nvSpPr>
        <p:spPr>
          <a:xfrm>
            <a:off x="6515100" y="3009900"/>
            <a:ext cx="4686300" cy="85344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4D399"/>
                </a:solidFill>
                <a:latin typeface="Arial"/>
                <a:ea typeface="Arial"/>
              </a:rPr>
              <a:t>RÀNG BUỘC 2 — LUẬT CHƠI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Frame tương lai chưa tồn tại: mọi đặc trưng chỉ dùng quá khứ của từng actor.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2866F84-712E-4473-A170-53BD7E30C6E2}"/>
              </a:ext>
            </a:extLst>
          </p:cNvPr>
          <p:cNvSpPr/>
          <p:nvPr/>
        </p:nvSpPr>
        <p:spPr>
          <a:xfrm>
            <a:off x="6286500" y="4076700"/>
            <a:ext cx="5143500" cy="11049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89A0FA1-8502-46DE-A3DB-95BFA6E97483}"/>
              </a:ext>
            </a:extLst>
          </p:cNvPr>
          <p:cNvSpPr txBox="1"/>
          <p:nvPr/>
        </p:nvSpPr>
        <p:spPr>
          <a:xfrm>
            <a:off x="6515100" y="4229100"/>
            <a:ext cx="4686300" cy="85344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4D399"/>
                </a:solidFill>
                <a:latin typeface="Arial"/>
                <a:ea typeface="Arial"/>
              </a:rPr>
              <a:t>RÀNG BUỘC 3 — HỆ THỐNG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Ngân sách 50 ms/frame: queue maxsize=2, rơi frame CŨ NHẤT thay vì phình bộ nhớ.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63383E-E2CB-44F7-A4B3-F0EE3C2CBBD1}"/>
              </a:ext>
            </a:extLst>
          </p:cNvPr>
          <p:cNvSpPr txBox="1"/>
          <p:nvPr/>
        </p:nvSpPr>
        <p:spPr>
          <a:xfrm>
            <a:off x="762000" y="539115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Chi tiết quan trọng: chúng tôi không tăng fps cho mượt. Tăng stride của tầng hành vi làm </a:t>
            </a: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đổi điểm c2/c3</a:t>
            </a: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 vì cửa sổ 24 landmark frame bị co giãn — tức là đổi luôn điều kiện phân bố lúc train.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B416D49-2D83-4A3C-9073-5376FB40B96D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5F9"/>
                </a:solidFill>
                <a:latin typeface="Arial"/>
                <a:ea typeface="Arial"/>
              </a:rPr>
              <a:t>3 · ĐO TRƯỚC KHI CHIA TÀI NGUYÊN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20CF0EC-DA46-457F-83AF-44CEF48B1C98}"/>
              </a:ext>
            </a:extLst>
          </p:cNvPr>
          <p:cNvSpPr txBox="1"/>
          <p:nvPr/>
        </p:nvSpPr>
        <p:spPr>
          <a:xfrm>
            <a:off x="762000" y="1066800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YOLOv8n @ 1920×1080 — ms cho một lần suy luận, theo số thread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F156460-A41B-4976-AEEA-C91475ACE468}"/>
              </a:ext>
            </a:extLst>
          </p:cNvPr>
          <p:cNvSpPr/>
          <p:nvPr/>
        </p:nvSpPr>
        <p:spPr>
          <a:xfrm>
            <a:off x="952500" y="1914525"/>
            <a:ext cx="762000" cy="3038475"/>
          </a:xfrm>
          <a:prstGeom prst="rect">
            <a:avLst/>
          </a:prstGeom>
          <a:solidFill>
            <a:srgbClr val="1723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851B66C-E6FA-47A0-BECF-99BA04DF261A}"/>
              </a:ext>
            </a:extLst>
          </p:cNvPr>
          <p:cNvSpPr/>
          <p:nvPr/>
        </p:nvSpPr>
        <p:spPr>
          <a:xfrm>
            <a:off x="2000250" y="3524250"/>
            <a:ext cx="762000" cy="1428750"/>
          </a:xfrm>
          <a:prstGeom prst="rect">
            <a:avLst/>
          </a:prstGeom>
          <a:solidFill>
            <a:srgbClr val="2433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9517299-27FD-484D-A527-1AC7514F927B}"/>
              </a:ext>
            </a:extLst>
          </p:cNvPr>
          <p:cNvSpPr/>
          <p:nvPr/>
        </p:nvSpPr>
        <p:spPr>
          <a:xfrm>
            <a:off x="3048000" y="3362325"/>
            <a:ext cx="762000" cy="1590675"/>
          </a:xfrm>
          <a:prstGeom prst="rect">
            <a:avLst/>
          </a:prstGeom>
          <a:solidFill>
            <a:srgbClr val="34D39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9B66C95-BC4D-4F68-9E70-C22A7847B3FE}"/>
              </a:ext>
            </a:extLst>
          </p:cNvPr>
          <p:cNvSpPr/>
          <p:nvPr/>
        </p:nvSpPr>
        <p:spPr>
          <a:xfrm>
            <a:off x="4095750" y="3695700"/>
            <a:ext cx="762000" cy="1257300"/>
          </a:xfrm>
          <a:prstGeom prst="rect">
            <a:avLst/>
          </a:prstGeom>
          <a:solidFill>
            <a:srgbClr val="24334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7AC2FF3-DE0C-4D26-B2BF-28F8854C9DCA}"/>
              </a:ext>
            </a:extLst>
          </p:cNvPr>
          <p:cNvSpPr/>
          <p:nvPr/>
        </p:nvSpPr>
        <p:spPr>
          <a:xfrm>
            <a:off x="5143500" y="2476500"/>
            <a:ext cx="762000" cy="2476500"/>
          </a:xfrm>
          <a:prstGeom prst="rect">
            <a:avLst/>
          </a:prstGeom>
          <a:solidFill>
            <a:srgbClr val="F59E0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76EBEA-DE32-40D0-BCC9-6DE95B0CC51A}"/>
              </a:ext>
            </a:extLst>
          </p:cNvPr>
          <p:cNvSpPr txBox="1"/>
          <p:nvPr/>
        </p:nvSpPr>
        <p:spPr>
          <a:xfrm>
            <a:off x="952500" y="1571625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C7D2E0"/>
                </a:solidFill>
                <a:latin typeface="Arial"/>
                <a:ea typeface="Arial"/>
              </a:rPr>
              <a:t>145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26D7C1E-3875-4DD2-A248-309DB15193CC}"/>
              </a:ext>
            </a:extLst>
          </p:cNvPr>
          <p:cNvSpPr txBox="1"/>
          <p:nvPr/>
        </p:nvSpPr>
        <p:spPr>
          <a:xfrm>
            <a:off x="2000250" y="31813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C7D2E0"/>
                </a:solidFill>
                <a:latin typeface="Arial"/>
                <a:ea typeface="Arial"/>
              </a:rPr>
              <a:t>68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FC91BA9-C28A-4A8C-B7C2-CA3742C47372}"/>
              </a:ext>
            </a:extLst>
          </p:cNvPr>
          <p:cNvSpPr txBox="1"/>
          <p:nvPr/>
        </p:nvSpPr>
        <p:spPr>
          <a:xfrm>
            <a:off x="3048000" y="3019425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Arial"/>
                <a:ea typeface="Arial"/>
              </a:rPr>
              <a:t>76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86682C9-505F-49E0-AC5E-3E20FEEF72FF}"/>
              </a:ext>
            </a:extLst>
          </p:cNvPr>
          <p:cNvSpPr txBox="1"/>
          <p:nvPr/>
        </p:nvSpPr>
        <p:spPr>
          <a:xfrm>
            <a:off x="4095750" y="33528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C7D2E0"/>
                </a:solidFill>
                <a:latin typeface="Arial"/>
                <a:ea typeface="Arial"/>
              </a:rPr>
              <a:t>60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5DC3A2F-C0A9-4A7D-842D-1ABE18A5522D}"/>
              </a:ext>
            </a:extLst>
          </p:cNvPr>
          <p:cNvSpPr txBox="1"/>
          <p:nvPr/>
        </p:nvSpPr>
        <p:spPr>
          <a:xfrm>
            <a:off x="5143500" y="21336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F59E0B"/>
                </a:solidFill>
                <a:latin typeface="Arial"/>
                <a:ea typeface="Arial"/>
              </a:rPr>
              <a:t>118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9595177-59F9-4AF7-A3F7-D84909693F2B}"/>
              </a:ext>
            </a:extLst>
          </p:cNvPr>
          <p:cNvSpPr txBox="1"/>
          <p:nvPr/>
        </p:nvSpPr>
        <p:spPr>
          <a:xfrm>
            <a:off x="762000" y="4991100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1        2        4        8       16</a:t>
            </a:r>
          </a:p>
          <a:p>
            <a:pPr algn="ctr"/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số thread cấp cho PyTorch / ONNX Runtime  (PROCTOR_CPU_THREADS)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754272A-21FA-4F24-9D2F-BA7146343BF1}"/>
              </a:ext>
            </a:extLst>
          </p:cNvPr>
          <p:cNvSpPr/>
          <p:nvPr/>
        </p:nvSpPr>
        <p:spPr>
          <a:xfrm>
            <a:off x="6477000" y="1295400"/>
            <a:ext cx="4953000" cy="36576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47F24-0597-4C26-A9DA-8D67E6D5AF85}"/>
              </a:ext>
            </a:extLst>
          </p:cNvPr>
          <p:cNvSpPr txBox="1"/>
          <p:nvPr/>
        </p:nvSpPr>
        <p:spPr>
          <a:xfrm>
            <a:off x="6705600" y="1524000"/>
            <a:ext cx="4495800" cy="3238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PHÁT HIỆN THỰC NGHIỆM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500">
                <a:solidFill>
                  <a:srgbClr val="F2F5F9"/>
                </a:solidFill>
                <a:latin typeface="Arial"/>
                <a:ea typeface="Arial"/>
              </a:rPr>
              <a:t>Đường cong </a:t>
            </a: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không đơn điệu</a:t>
            </a:r>
            <a:r>
              <a:rPr sz="1500">
                <a:solidFill>
                  <a:srgbClr val="F2F5F9"/>
                </a:solidFill>
                <a:latin typeface="Arial"/>
                <a:ea typeface="Arial"/>
              </a:rPr>
              <a:t>: 16 thread chậm hơn 8 thread và gần gấp đôi cấu hình chúng tôi chọn.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Mặc định của PyTorch/ONNX Runtime là chiếm hết 22 thread. Với 4 mô-đun cùng chạy, điều đó biến mỗi mô-đun thành nạn nhân của </a:t>
            </a:r>
            <a:r>
              <a:rPr sz="1500" i="1">
                <a:solidFill>
                  <a:srgbClr val="F2F5F9"/>
                </a:solidFill>
                <a:latin typeface="Arial"/>
                <a:ea typeface="Arial"/>
              </a:rPr>
              <a:t>cache thrashing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Vì sao chọn 4: 76 ms nhưng để dành 18 thread cho Holistic (tiến trình riêng, 4 core) và 3 luồng còn lại.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8657E9C-740A-4907-9D14-D28CFF83751E}"/>
              </a:ext>
            </a:extLst>
          </p:cNvPr>
          <p:cNvSpPr txBox="1"/>
          <p:nvPr/>
        </p:nvSpPr>
        <p:spPr>
          <a:xfrm>
            <a:off x="762000" y="6019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Tái lập: PROCTOR_CPU_THREADS=1..16 scripts/bench_threads.py  ·  đo trên M1, ngày 29/10/2026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980C75B-E737-4144-8398-D81E2C56473E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5F9"/>
                </a:solidFill>
                <a:latin typeface="Arial"/>
                <a:ea typeface="Arial"/>
              </a:rPr>
              <a:t>3 · ĐỔI CHỖ MÔ HÌNH SANG ĐÚNG THIẾT BỊ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99A658A-FFF3-441E-8D67-3B8D8BF7BE18}"/>
              </a:ext>
            </a:extLst>
          </p:cNvPr>
          <p:cNvSpPr txBox="1"/>
          <p:nvPr/>
        </p:nvSpPr>
        <p:spPr>
          <a:xfrm>
            <a:off x="762000" y="1047750"/>
            <a:ext cx="10668000" cy="55473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select_device().kind chọn model + thiết bị theo PHẦN CỨNG (cuda / intel / cpu), không theo hệ điều hành — nên WSL2 + NVIDIA lấy đúng profile CUDA.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4155EA3-343E-403B-AA6B-CCF4AEA78ED1}"/>
              </a:ext>
            </a:extLst>
          </p:cNvPr>
          <p:cNvSpPr/>
          <p:nvPr/>
        </p:nvSpPr>
        <p:spPr>
          <a:xfrm>
            <a:off x="762000" y="1809750"/>
            <a:ext cx="2381250" cy="2857500"/>
          </a:xfrm>
          <a:prstGeom prst="roundRect">
            <a:avLst/>
          </a:prstGeom>
          <a:solidFill>
            <a:srgbClr val="17233A"/>
          </a:solidFill>
          <a:ln w="19050">
            <a:solidFill>
              <a:srgbClr val="34D39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9B66AB0-2B9C-4DFF-9116-9F9EBE68197B}"/>
              </a:ext>
            </a:extLst>
          </p:cNvPr>
          <p:cNvSpPr txBox="1"/>
          <p:nvPr/>
        </p:nvSpPr>
        <p:spPr>
          <a:xfrm>
            <a:off x="990600" y="2114550"/>
            <a:ext cx="1924050" cy="79248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5200" b="1">
                <a:solidFill>
                  <a:srgbClr val="34D399"/>
                </a:solidFill>
                <a:latin typeface="Arial"/>
                <a:ea typeface="Arial"/>
              </a:rPr>
              <a:t>5.2</a:t>
            </a:r>
            <a:r>
              <a:rPr sz="3000" b="1">
                <a:solidFill>
                  <a:srgbClr val="34D399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81D15CB-AB91-4F5B-AC73-717F8811A97B}"/>
              </a:ext>
            </a:extLst>
          </p:cNvPr>
          <p:cNvSpPr txBox="1"/>
          <p:nvPr/>
        </p:nvSpPr>
        <p:spPr>
          <a:xfrm>
            <a:off x="990600" y="2857500"/>
            <a:ext cx="192405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Detector giấy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CPU → iGPU OpenVINO, đo ngay trong ứng dụng: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776 ms → 149 ms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0BF1D01-368C-4B67-AAE2-A54432A0273E}"/>
              </a:ext>
            </a:extLst>
          </p:cNvPr>
          <p:cNvSpPr/>
          <p:nvPr/>
        </p:nvSpPr>
        <p:spPr>
          <a:xfrm>
            <a:off x="3429000" y="1809750"/>
            <a:ext cx="2381250" cy="28575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E51200-3042-4770-8131-C63128E1406F}"/>
              </a:ext>
            </a:extLst>
          </p:cNvPr>
          <p:cNvSpPr txBox="1"/>
          <p:nvPr/>
        </p:nvSpPr>
        <p:spPr>
          <a:xfrm>
            <a:off x="3657600" y="2114550"/>
            <a:ext cx="1924050" cy="79248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5200" b="1">
                <a:solidFill>
                  <a:srgbClr val="F2F5F9"/>
                </a:solidFill>
                <a:latin typeface="Arial"/>
                <a:ea typeface="Arial"/>
              </a:rPr>
              <a:t>3.4</a:t>
            </a:r>
            <a:r>
              <a:rPr sz="3000" b="1">
                <a:solidFill>
                  <a:srgbClr val="F2F5F9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0B5BF22-9C84-4860-9993-292EDF27BE9A}"/>
              </a:ext>
            </a:extLst>
          </p:cNvPr>
          <p:cNvSpPr txBox="1"/>
          <p:nvPr/>
        </p:nvSpPr>
        <p:spPr>
          <a:xfrm>
            <a:off x="3657600" y="2857500"/>
            <a:ext cx="192405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Cùng phép đổi chỗ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ở harness replay (không camera), để đối chiếu: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1089 ms → 319 ms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DB407A9-AC39-4B33-A8DD-89A7B8734784}"/>
              </a:ext>
            </a:extLst>
          </p:cNvPr>
          <p:cNvSpPr/>
          <p:nvPr/>
        </p:nvSpPr>
        <p:spPr>
          <a:xfrm>
            <a:off x="6096000" y="1809750"/>
            <a:ext cx="2381250" cy="28575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13FECCE-2CA8-41A3-A6FA-E86E57C650FB}"/>
              </a:ext>
            </a:extLst>
          </p:cNvPr>
          <p:cNvSpPr txBox="1"/>
          <p:nvPr/>
        </p:nvSpPr>
        <p:spPr>
          <a:xfrm>
            <a:off x="6324600" y="2114550"/>
            <a:ext cx="1924050" cy="79248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5200" b="1">
                <a:solidFill>
                  <a:srgbClr val="F2F5F9"/>
                </a:solidFill>
                <a:latin typeface="Arial"/>
                <a:ea typeface="Arial"/>
              </a:rPr>
              <a:t>8.1</a:t>
            </a:r>
            <a:r>
              <a:rPr sz="3000" b="1">
                <a:solidFill>
                  <a:srgbClr val="F2F5F9"/>
                </a:solidFill>
                <a:latin typeface="Arial"/>
                <a:ea typeface="Arial"/>
              </a:rPr>
              <a:t>×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39E0476-968B-488A-86B0-B52CB116C1C4}"/>
              </a:ext>
            </a:extLst>
          </p:cNvPr>
          <p:cNvSpPr txBox="1"/>
          <p:nvPr/>
        </p:nvSpPr>
        <p:spPr>
          <a:xfrm>
            <a:off x="6324600" y="2857500"/>
            <a:ext cx="192405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FaceNet ArcFace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CPU → CUDA trên M2; bản iGPU giữ p50 44.8 ms @640 px: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232 ms → 28.7 ms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B2B1553-46CD-4993-A650-AF5714AD985E}"/>
              </a:ext>
            </a:extLst>
          </p:cNvPr>
          <p:cNvSpPr/>
          <p:nvPr/>
        </p:nvSpPr>
        <p:spPr>
          <a:xfrm>
            <a:off x="8763000" y="1809750"/>
            <a:ext cx="2381250" cy="28575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EF2E126-3EAB-46A3-A1C6-4FE45518DF7F}"/>
              </a:ext>
            </a:extLst>
          </p:cNvPr>
          <p:cNvSpPr txBox="1"/>
          <p:nvPr/>
        </p:nvSpPr>
        <p:spPr>
          <a:xfrm>
            <a:off x="8991600" y="2114550"/>
            <a:ext cx="192405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59E0B"/>
                </a:solidFill>
                <a:latin typeface="Arial"/>
                <a:ea typeface="Arial"/>
              </a:rPr>
              <a:t>2.5–3.2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81FBA5A-F54D-49CA-94B4-3AEDE5B73161}"/>
              </a:ext>
            </a:extLst>
          </p:cNvPr>
          <p:cNvSpPr txBox="1"/>
          <p:nvPr/>
        </p:nvSpPr>
        <p:spPr>
          <a:xfrm>
            <a:off x="8991600" y="2857500"/>
            <a:ext cx="192405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/ 22 logical CPU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tổng CPU của cả ứng dụng khi bật đủ 4 module trên laptop không card rời.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còn dư cho 30 fps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76735A4-0C26-49FB-84BC-68C31524F2A8}"/>
              </a:ext>
            </a:extLst>
          </p:cNvPr>
          <p:cNvSpPr txBox="1"/>
          <p:nvPr/>
        </p:nvSpPr>
        <p:spPr>
          <a:xfrm>
            <a:off x="762000" y="4953000"/>
            <a:ext cx="10668000" cy="119481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Vì sao đây là đóng góp nghiên cứu: cùng một checkpoint, cùng một code suy luận — chỉ đổi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nơi nó chạy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 và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mấy thread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 — độ trễ giảm 3–8 lần mà độ chính xác không đổi.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Job offline cũng chạy ở tiến trình riêng với oom_score_adj=500: trước đây nó nạp bộ model thứ hai vào tiến trình UI (~3 GB) và bị kernel OOM killer giết cả 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8FF0CE0-A93A-432E-B0F0-CD0574F3EBB8}"/>
              </a:ext>
            </a:extLst>
          </p:cNvPr>
          <p:cNvSpPr txBox="1"/>
          <p:nvPr/>
        </p:nvSpPr>
        <p:spPr>
          <a:xfrm>
            <a:off x="762000" y="495300"/>
            <a:ext cx="5334000" cy="95097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2F5F9"/>
                </a:solidFill>
                <a:latin typeface="Arial"/>
                <a:ea typeface="Arial"/>
              </a:rPr>
              <a:t>GIỚI HẠN,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34D399"/>
                </a:solidFill>
                <a:latin typeface="Arial"/>
                <a:ea typeface="Arial"/>
              </a:rPr>
              <a:t>CHÚNG TÔI NÓI TRƯỚC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3224DE-DC3A-4AA7-A72F-F6F8B4B5D2E3}"/>
              </a:ext>
            </a:extLst>
          </p:cNvPr>
          <p:cNvSpPr txBox="1"/>
          <p:nvPr/>
        </p:nvSpPr>
        <p:spPr>
          <a:xfrm>
            <a:off x="762000" y="1524000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1  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Điểm hành vi không tái lập giữa hai lần chạy cùng code (c2 0.6908 vs 0.6952).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     ⇒ chỉ A/B bằng quyết định / cảnh báo + thời gian, không bằng điểm.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92056F8-5133-4E64-B1D9-AA813EA6E89E}"/>
              </a:ext>
            </a:extLst>
          </p:cNvPr>
          <p:cNvSpPr txBox="1"/>
          <p:nvPr/>
        </p:nvSpPr>
        <p:spPr>
          <a:xfrm>
            <a:off x="762000" y="2495550"/>
            <a:ext cx="533400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2  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locked test thấp hơn grouped-OOF 7.96 điểm phần trăm.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     ⇒ báo cả hai số, không chọn số đẹp.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53E141-207A-4504-B529-35A4C4ED5B5B}"/>
              </a:ext>
            </a:extLst>
          </p:cNvPr>
          <p:cNvSpPr txBox="1"/>
          <p:nvPr/>
        </p:nvSpPr>
        <p:spPr>
          <a:xfrm>
            <a:off x="762000" y="3467100"/>
            <a:ext cx="5334000" cy="11239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3  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Precision siêu lớp nghi vấn 67.21%: 19/67 mẫu c5 bị gán dương.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     ⇒ thiết kế là cảnh báo để giám thị xem bằng chứng, không tự kết tội.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2EB557-AE8B-430E-94A3-7017AF25AB7D}"/>
              </a:ext>
            </a:extLst>
          </p:cNvPr>
          <p:cNvSpPr txBox="1"/>
          <p:nvPr/>
        </p:nvSpPr>
        <p:spPr>
          <a:xfrm>
            <a:off x="762000" y="4610100"/>
            <a:ext cx="5334000" cy="118719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4  </a:t>
            </a: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Chưa có corpus audio kèm văn bản chuẩn để tính CER; mic xa thì cả ba cỡ model đều bịa.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     ⇒ đã kiểm tra và loại phong_thi_data.csv vì 0/43 file khớp; nút thắt ở khâu thu âm.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2DE7E2C-192E-4BCA-8850-D5F9EC5811BB}"/>
              </a:ext>
            </a:extLst>
          </p:cNvPr>
          <p:cNvSpPr/>
          <p:nvPr/>
        </p:nvSpPr>
        <p:spPr>
          <a:xfrm>
            <a:off x="6477000" y="1428750"/>
            <a:ext cx="4953000" cy="4191000"/>
          </a:xfrm>
          <a:prstGeom prst="roundRect">
            <a:avLst/>
          </a:prstGeom>
          <a:solidFill>
            <a:srgbClr val="17233A"/>
          </a:solidFill>
          <a:ln w="19050">
            <a:solidFill>
              <a:srgbClr val="34D39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CD6E71-DDE1-45F2-8284-431515DA630D}"/>
              </a:ext>
            </a:extLst>
          </p:cNvPr>
          <p:cNvSpPr txBox="1"/>
          <p:nvPr/>
        </p:nvSpPr>
        <p:spPr>
          <a:xfrm>
            <a:off x="6781800" y="1809750"/>
            <a:ext cx="4343400" cy="385419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1800"/>
              </a:spcAft>
            </a:pPr>
            <a:r>
              <a:rPr sz="2200">
                <a:solidFill>
                  <a:srgbClr val="F2F5F9"/>
                </a:solidFill>
                <a:latin typeface="Arial"/>
                <a:ea typeface="Arial"/>
              </a:rPr>
              <a:t>Chúng tôi không thắng bằng</a:t>
            </a:r>
          </a:p>
          <a:p>
            <a:pPr algn="l">
              <a:lnSpc>
                <a:spcPct val="135000"/>
              </a:lnSpc>
              <a:spcAft>
                <a:spcPts val="1800"/>
              </a:spcAft>
            </a:pPr>
            <a:r>
              <a:rPr sz="2200" b="1">
                <a:solidFill>
                  <a:srgbClr val="F59E0B"/>
                </a:solidFill>
                <a:latin typeface="Arial"/>
                <a:ea typeface="Arial"/>
              </a:rPr>
              <a:t>mô hình to hơn.</a:t>
            </a:r>
          </a:p>
          <a:p>
            <a:pPr algn="l">
              <a:lnSpc>
                <a:spcPct val="135000"/>
              </a:lnSpc>
              <a:spcAft>
                <a:spcPts val="1800"/>
              </a:spcAft>
            </a:pPr>
            <a:r>
              <a:rPr sz="2200">
                <a:solidFill>
                  <a:srgbClr val="F2F5F9"/>
                </a:solidFill>
                <a:latin typeface="Arial"/>
                <a:ea typeface="Arial"/>
              </a:rPr>
              <a:t>Chúng tôi thắng bằng cách tổ chức để </a:t>
            </a:r>
            <a:r>
              <a:rPr sz="2200" b="1">
                <a:solidFill>
                  <a:srgbClr val="34D399"/>
                </a:solidFill>
                <a:latin typeface="Arial"/>
                <a:ea typeface="Arial"/>
              </a:rPr>
              <a:t>BỐN mô hình chạy thật</a:t>
            </a:r>
            <a:r>
              <a:rPr sz="2200">
                <a:solidFill>
                  <a:srgbClr val="F2F5F9"/>
                </a:solidFill>
                <a:latin typeface="Arial"/>
                <a:ea typeface="Arial"/>
              </a:rPr>
              <a:t> trên thiết bị biên —</a:t>
            </a:r>
          </a:p>
          <a:p>
            <a:pPr algn="l">
              <a:lnSpc>
                <a:spcPct val="135000"/>
              </a:lnSpc>
            </a:pPr>
            <a:r>
              <a:rPr sz="2200" b="1">
                <a:solidFill>
                  <a:srgbClr val="F2F5F9"/>
                </a:solidFill>
                <a:latin typeface="Arial"/>
                <a:ea typeface="Arial"/>
              </a:rPr>
              <a:t>và chứng minh từng phát biểu bằng một phép đo tái lập được.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8D021F-AA39-4C08-AF15-BCCE273A2D0A}"/>
              </a:ext>
            </a:extLst>
          </p:cNvPr>
          <p:cNvSpPr txBox="1"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Tài liệu kèm theo: 01_Bao_cao_Eureka_v2.md  ·  03_Phan_bien_QA.md  ·  04_Kich_ban_demo.md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4B6FFA-2B96-483F-82CF-1BAD65C7AAEF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5F9"/>
                </a:solidFill>
                <a:latin typeface="Arial"/>
                <a:ea typeface="Arial"/>
              </a:rPr>
              <a:t>4 · ASR: TO HƠN KHÔNG CÓ NGHĨA LÀ TỐT HƠN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84C36CA-9E86-4256-8D65-D19850F3C1BC}"/>
              </a:ext>
            </a:extLst>
          </p:cNvPr>
          <p:cNvSpPr txBox="1"/>
          <p:nvPr/>
        </p:nvSpPr>
        <p:spPr>
          <a:xfrm>
            <a:off x="762000" y="102870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Cùng 43 file có nhãn (22 gian lận / 21 bình thường), cùng bộ từ khoá + PhoBERT, chỉ đổi mô hình nhận dạng.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30F5CB9-CC86-4629-B04C-FD446366D3D6}"/>
              </a:ext>
            </a:extLst>
          </p:cNvPr>
          <p:cNvSpPr/>
          <p:nvPr/>
        </p:nvSpPr>
        <p:spPr>
          <a:xfrm>
            <a:off x="762000" y="1543050"/>
            <a:ext cx="3429000" cy="3143250"/>
          </a:xfrm>
          <a:prstGeom prst="roundRect">
            <a:avLst/>
          </a:prstGeom>
          <a:solidFill>
            <a:srgbClr val="17233A"/>
          </a:solidFill>
          <a:ln w="19050">
            <a:solidFill>
              <a:srgbClr val="34D39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F45795F-22D8-4E0D-B3C8-AAE328AB861A}"/>
              </a:ext>
            </a:extLst>
          </p:cNvPr>
          <p:cNvSpPr txBox="1"/>
          <p:nvPr/>
        </p:nvSpPr>
        <p:spPr>
          <a:xfrm>
            <a:off x="990600" y="1733550"/>
            <a:ext cx="2971800" cy="5143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PhoWhisper-small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iGPU OpenVINO · ĐANG DÙNG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F8199A-73C2-4D17-B46F-70ECC5322DC9}"/>
              </a:ext>
            </a:extLst>
          </p:cNvPr>
          <p:cNvSpPr txBox="1"/>
          <p:nvPr/>
        </p:nvSpPr>
        <p:spPr>
          <a:xfrm>
            <a:off x="990600" y="2362200"/>
            <a:ext cx="2971800" cy="228092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F1  </a:t>
            </a:r>
            <a:r>
              <a:rPr sz="2600" b="1">
                <a:solidFill>
                  <a:srgbClr val="34D399"/>
                </a:solidFill>
                <a:latin typeface="Arial"/>
                <a:ea typeface="Arial"/>
              </a:rPr>
              <a:t>0.900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P 1.000   ·   R 0.818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p50  </a:t>
            </a: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1.29 s</a:t>
            </a: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  RTF  </a:t>
            </a: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0.56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RAM đỉnh  </a:t>
            </a: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2.09 GB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0 cảnh báo sai trên tập này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EC647D5-2762-4185-899C-94E7BB25B8B7}"/>
              </a:ext>
            </a:extLst>
          </p:cNvPr>
          <p:cNvSpPr/>
          <p:nvPr/>
        </p:nvSpPr>
        <p:spPr>
          <a:xfrm>
            <a:off x="4381500" y="1543050"/>
            <a:ext cx="3429000" cy="314325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0895E7-036B-423A-94EF-7854C85EC7BC}"/>
              </a:ext>
            </a:extLst>
          </p:cNvPr>
          <p:cNvSpPr txBox="1"/>
          <p:nvPr/>
        </p:nvSpPr>
        <p:spPr>
          <a:xfrm>
            <a:off x="4610100" y="1733550"/>
            <a:ext cx="2971800" cy="5143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PhoWhisper-medium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CTranslate2 CPU int8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556F8B0-7E54-4A05-A193-3DDEEC09CE0C}"/>
              </a:ext>
            </a:extLst>
          </p:cNvPr>
          <p:cNvSpPr txBox="1"/>
          <p:nvPr/>
        </p:nvSpPr>
        <p:spPr>
          <a:xfrm>
            <a:off x="4610100" y="2362200"/>
            <a:ext cx="2971800" cy="228092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F1  </a:t>
            </a:r>
            <a:r>
              <a:rPr sz="2600" b="1">
                <a:solidFill>
                  <a:srgbClr val="F2F5F9"/>
                </a:solidFill>
                <a:latin typeface="Arial"/>
                <a:ea typeface="Arial"/>
              </a:rPr>
              <a:t>0.900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P 1.000   ·   R 0.818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p50  </a:t>
            </a: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4.02 s</a:t>
            </a: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  RTF  </a:t>
            </a: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1.77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RAM đỉnh  </a:t>
            </a: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3.11 GB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F1 KHÔNG đổi, chậm 3.1 lần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1E8C3FA-5AC4-4CE4-B37C-FD7FA323E9C6}"/>
              </a:ext>
            </a:extLst>
          </p:cNvPr>
          <p:cNvSpPr/>
          <p:nvPr/>
        </p:nvSpPr>
        <p:spPr>
          <a:xfrm>
            <a:off x="8001000" y="1543050"/>
            <a:ext cx="3429000" cy="314325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1FF28F-236E-4179-909F-279C13F5C23B}"/>
              </a:ext>
            </a:extLst>
          </p:cNvPr>
          <p:cNvSpPr txBox="1"/>
          <p:nvPr/>
        </p:nvSpPr>
        <p:spPr>
          <a:xfrm>
            <a:off x="8229600" y="1733550"/>
            <a:ext cx="2971800" cy="5143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whisper-large-v3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CTranslate2 CPU int8 · RAM 2.0× · chậm 6.6×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C388C2B-6794-4649-9037-C7EB7092FC4B}"/>
              </a:ext>
            </a:extLst>
          </p:cNvPr>
          <p:cNvSpPr txBox="1"/>
          <p:nvPr/>
        </p:nvSpPr>
        <p:spPr>
          <a:xfrm>
            <a:off x="8229600" y="2362200"/>
            <a:ext cx="2971800" cy="228092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F1  </a:t>
            </a:r>
            <a:r>
              <a:rPr sz="2600" b="1">
                <a:solidFill>
                  <a:srgbClr val="F59E0B"/>
                </a:solidFill>
                <a:latin typeface="Arial"/>
                <a:ea typeface="Arial"/>
              </a:rPr>
              <a:t>0.884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P 0.905   ·   R 0.864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p50  </a:t>
            </a: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8.56 s</a:t>
            </a: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  RTF  </a:t>
            </a:r>
            <a:r>
              <a:rPr sz="1500" b="1">
                <a:solidFill>
                  <a:srgbClr val="F59E0B"/>
                </a:solidFill>
                <a:latin typeface="Arial"/>
                <a:ea typeface="Arial"/>
              </a:rPr>
              <a:t>3.71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Arial"/>
                <a:ea typeface="Arial"/>
              </a:rPr>
              <a:t>RAM đỉnh  </a:t>
            </a: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4.21 GB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F1 THẤP HƠN và không realtime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EDABEE9-A1D0-461D-AA76-27533A9A5074}"/>
              </a:ext>
            </a:extLst>
          </p:cNvPr>
          <p:cNvSpPr txBox="1"/>
          <p:nvPr/>
        </p:nvSpPr>
        <p:spPr>
          <a:xfrm>
            <a:off x="762000" y="4876800"/>
            <a:ext cx="10668000" cy="1347216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1">
                <a:solidFill>
                  <a:srgbClr val="F2F5F9"/>
                </a:solidFill>
                <a:latin typeface="Arial"/>
                <a:ea typeface="Arial"/>
              </a:rPr>
              <a:t>Kết luận có số: </a:t>
            </a:r>
            <a:r>
              <a:rPr sz="1500" b="1">
                <a:solidFill>
                  <a:srgbClr val="34D399"/>
                </a:solidFill>
                <a:latin typeface="Arial"/>
                <a:ea typeface="Arial"/>
              </a:rPr>
              <a:t>F1 đi ngang rồi giảm khi mô hình to lên, còn RTF thì tăng 6.6 lần và RAM tăng 2 lần</a:t>
            </a:r>
            <a:r>
              <a:rPr sz="1500">
                <a:solidFill>
                  <a:srgbClr val="C7D2E0"/>
                </a:solidFill>
                <a:latin typeface="Arial"/>
                <a:ea typeface="Arial"/>
              </a:rPr>
              <a:t> — trên máy 15 GB không card rời, cấu hình nhỏ + iGPU là lựa chọn duy nhất chạy được realtime.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Tham chiếu chéo: small và medium chỉ khớp large-v3 ở 46.5% / 55.8% số câu (CER 0.09) — khác biệt mô hình, không phải chất lượng phòng thi.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Không có bảng CER so với văn bản chuẩn: đã kiểm tra và loại phong_thi_data.csv vì 0/43 file khớp — ghi rõ trong phụ lục.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FC76FD6-9D5C-47B9-A7A5-3A7E551FB9AD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2F5F9"/>
                </a:solidFill>
                <a:latin typeface="Arial"/>
                <a:ea typeface="Arial"/>
              </a:rPr>
              <a:t>4 &amp; 5 · CHỐNG ẢO GIÁC ÂM THANH VÀ “REMB GIẢ NGHẼN”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D308146-A2BE-450A-B71A-238B3E40C313}"/>
              </a:ext>
            </a:extLst>
          </p:cNvPr>
          <p:cNvSpPr/>
          <p:nvPr/>
        </p:nvSpPr>
        <p:spPr>
          <a:xfrm>
            <a:off x="762000" y="1333500"/>
            <a:ext cx="5143500" cy="3810000"/>
          </a:xfrm>
          <a:prstGeom prst="roundRect">
            <a:avLst/>
          </a:prstGeom>
          <a:solidFill>
            <a:srgbClr val="17233A"/>
          </a:solidFill>
          <a:ln w="19050">
            <a:solidFill>
              <a:srgbClr val="34D39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25D3D9A-5998-4E60-880E-4927A2966C36}"/>
              </a:ext>
            </a:extLst>
          </p:cNvPr>
          <p:cNvSpPr txBox="1"/>
          <p:nvPr/>
        </p:nvSpPr>
        <p:spPr>
          <a:xfrm>
            <a:off x="990600" y="1524000"/>
            <a:ext cx="46863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WHISPER LUÔN TRẢ VĂN BẢN — KỂ CẢ KHI KHÔNG AI NÓI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71A208-2130-476D-B295-7E07FFA68FB0}"/>
              </a:ext>
            </a:extLst>
          </p:cNvPr>
          <p:cNvSpPr txBox="1"/>
          <p:nvPr/>
        </p:nvSpPr>
        <p:spPr>
          <a:xfrm>
            <a:off x="990600" y="1828800"/>
            <a:ext cx="4686300" cy="5905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1" i="1">
                <a:solidFill>
                  <a:srgbClr val="F59E0B"/>
                </a:solidFill>
                <a:latin typeface="Arial"/>
                <a:ea typeface="Arial"/>
              </a:rPr>
              <a:t>“là tay bà mẹ đủ đời.”</a:t>
            </a: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  → Cheating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C7D2E0"/>
                </a:solidFill>
                <a:latin typeface="Arial"/>
                <a:ea typeface="Arial"/>
              </a:rPr>
              <a:t>cảnh báo SAI do hệ thống, sinh ra từ đoạn nhiễu của clip mic xa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88FEC3E-377F-46E8-A4F4-2A26E45BDA0D}"/>
              </a:ext>
            </a:extLst>
          </p:cNvPr>
          <p:cNvSpPr txBox="1"/>
          <p:nvPr/>
        </p:nvSpPr>
        <p:spPr>
          <a:xfrm>
            <a:off x="990600" y="2495550"/>
            <a:ext cx="46863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1  </a:t>
            </a:r>
            <a:r>
              <a:rPr sz="1300">
                <a:solidFill>
                  <a:srgbClr val="F2F5F9"/>
                </a:solidFill>
                <a:latin typeface="Arial"/>
                <a:ea typeface="Arial"/>
              </a:rPr>
              <a:t>Chuẩn hoá mức RMS cả file video (đích 0.05, chặn đỉnh 0.95)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2  </a:t>
            </a:r>
            <a:r>
              <a:rPr sz="1300">
                <a:solidFill>
                  <a:srgbClr val="F2F5F9"/>
                </a:solidFill>
                <a:latin typeface="Arial"/>
                <a:ea typeface="Arial"/>
              </a:rPr>
              <a:t>Chuẩn hoá mức cục bộ đoạn tiếng trước khi vào ASR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3  </a:t>
            </a:r>
            <a:r>
              <a:rPr sz="1300">
                <a:solidFill>
                  <a:srgbClr val="F2F5F9"/>
                </a:solidFill>
                <a:latin typeface="Arial"/>
                <a:ea typeface="Arial"/>
              </a:rPr>
              <a:t>CỔNG: ≥ 0.8 s VÀ độ tự tin tiếng người (Silero) ≥ 0.5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6B66F2D-2FB5-4555-823A-AB2E0311FB89}"/>
              </a:ext>
            </a:extLst>
          </p:cNvPr>
          <p:cNvSpPr/>
          <p:nvPr/>
        </p:nvSpPr>
        <p:spPr>
          <a:xfrm>
            <a:off x="990600" y="3733800"/>
            <a:ext cx="4686300" cy="1257300"/>
          </a:xfrm>
          <a:prstGeom prst="roundRect">
            <a:avLst/>
          </a:prstGeom>
          <a:solidFill>
            <a:srgbClr val="0E1726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1443F4E-58B3-48A4-8411-381AD9FB32EB}"/>
              </a:ext>
            </a:extLst>
          </p:cNvPr>
          <p:cNvSpPr txBox="1"/>
          <p:nvPr/>
        </p:nvSpPr>
        <p:spPr>
          <a:xfrm>
            <a:off x="1143000" y="3829050"/>
            <a:ext cx="4381500" cy="11176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>
                <a:solidFill>
                  <a:srgbClr val="C7D2E0"/>
                </a:solidFill>
                <a:latin typeface="Arial"/>
                <a:ea typeface="Arial"/>
              </a:rPr>
              <a:t>Nhiễu (14 phép): câu bịa </a:t>
            </a: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2 → 0</a:t>
            </a:r>
            <a:r>
              <a:rPr sz="1200">
                <a:solidFill>
                  <a:srgbClr val="C7D2E0"/>
                </a:solidFill>
                <a:latin typeface="Arial"/>
                <a:ea typeface="Arial"/>
              </a:rPr>
              <a:t>, cảnh báo sai </a:t>
            </a: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2 → 0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>
                <a:solidFill>
                  <a:srgbClr val="C7D2E0"/>
                </a:solidFill>
                <a:latin typeface="Arial"/>
                <a:ea typeface="Arial"/>
              </a:rPr>
              <a:t>Nói thật (12 phép): giữ nguyên </a:t>
            </a: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12/12</a:t>
            </a:r>
            <a:r>
              <a:rPr sz="1200">
                <a:solidFill>
                  <a:srgbClr val="C7D2E0"/>
                </a:solidFill>
                <a:latin typeface="Arial"/>
                <a:ea typeface="Arial"/>
              </a:rPr>
              <a:t> — không chặn oan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SNR +6 dB: 6/8 nguyên văn · −3 dB: 2/8 qua cổng, 0/8 nguyên văn.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59246B9-B405-4F57-835A-D20D440FB0AF}"/>
              </a:ext>
            </a:extLst>
          </p:cNvPr>
          <p:cNvSpPr/>
          <p:nvPr/>
        </p:nvSpPr>
        <p:spPr>
          <a:xfrm>
            <a:off x="6286500" y="1333500"/>
            <a:ext cx="5143500" cy="38100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C808DE6-F4D2-4F1E-B2E1-19D7D2920FF9}"/>
              </a:ext>
            </a:extLst>
          </p:cNvPr>
          <p:cNvSpPr txBox="1"/>
          <p:nvPr/>
        </p:nvSpPr>
        <p:spPr>
          <a:xfrm>
            <a:off x="6515100" y="1524000"/>
            <a:ext cx="46863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VÌ SAO HÌNH “LÚC RÕ LÚC MỜ” — KHÔNG PHẢI DO CAMERA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88AE201-678F-4886-A451-7CF09B0CDB65}"/>
              </a:ext>
            </a:extLst>
          </p:cNvPr>
          <p:cNvSpPr txBox="1"/>
          <p:nvPr/>
        </p:nvSpPr>
        <p:spPr>
          <a:xfrm>
            <a:off x="6515100" y="1866900"/>
            <a:ext cx="4686300" cy="2108708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① Python bận (GIL + 4 luồng AI)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② Gói RTP đến dồn cục → jitter tăng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③ aiortc báo nghẽn </a:t>
            </a: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GIẢ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④ REMB thấp gửi về Chrome qua RTCP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>
                <a:solidFill>
                  <a:srgbClr val="F2F5F9"/>
                </a:solidFill>
                <a:latin typeface="Arial"/>
                <a:ea typeface="Arial"/>
              </a:rPr>
              <a:t>⑤ Chrome scaleResolutionDownBy 960×540 → 320×180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9E0B"/>
                </a:solidFill>
                <a:latin typeface="Arial"/>
                <a:ea typeface="Arial"/>
              </a:rPr>
              <a:t>   ⇒ hình MỜ dù camera không đổi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ECD1948-4EE1-44F9-A2AE-577BABDCAF16}"/>
              </a:ext>
            </a:extLst>
          </p:cNvPr>
          <p:cNvSpPr txBox="1"/>
          <p:nvPr/>
        </p:nvSpPr>
        <p:spPr>
          <a:xfrm>
            <a:off x="6515100" y="4000500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SỬA: sàn REMB 1.2 Mbps + MIN_BITRATE VP8 250 → 1200 kbps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C7D2E0"/>
                </a:solidFill>
                <a:latin typeface="Arial"/>
                <a:ea typeface="Arial"/>
              </a:rPr>
              <a:t>KIỂM CHỨNG: log “đổi kích thước vào” + panel “📥 WebRTC vào: 960×540 @ 20 fps”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FB66F0B-0D77-41A4-BDD1-045D35CB8BD9}"/>
              </a:ext>
            </a:extLst>
          </p:cNvPr>
          <p:cNvSpPr txBox="1"/>
          <p:nvPr/>
        </p:nvSpPr>
        <p:spPr>
          <a:xfrm>
            <a:off x="762000" y="542925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Cả hai là vòng phản hồi giữa tài nguyên máy và chất lượng đầu ra — chỉ tồn tại ở hệ realtime; pipeline offline không có hiện tượng này.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5DE39D2-10AB-47A2-9D73-24C9DA7A60F2}"/>
              </a:ext>
            </a:extLst>
          </p:cNvPr>
          <p:cNvSpPr txBox="1"/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5F9"/>
                </a:solidFill>
                <a:latin typeface="Arial"/>
                <a:ea typeface="Arial"/>
              </a:rPr>
              <a:t>END-TO-END: BỐN MODULE, MỘT CHIẾC LAPTOP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BA68BE-C79A-41E5-9704-9E552242B3E8}"/>
              </a:ext>
            </a:extLst>
          </p:cNvPr>
          <p:cNvSpPr txBox="1"/>
          <p:nvPr/>
        </p:nvSpPr>
        <p:spPr>
          <a:xfrm>
            <a:off x="762000" y="100965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FA1B8"/>
                </a:solidFill>
                <a:latin typeface="Arial"/>
                <a:ea typeface="Arial"/>
              </a:rPr>
              <a:t>run_offline.py với object + face + paper + action + audio, đo trên M1 (iGPU Arc, 15 GB), ngày 29/10/2026.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E1342F4-7127-456E-A277-C4B5BD5D55A9}"/>
              </a:ext>
            </a:extLst>
          </p:cNvPr>
          <p:cNvSpPr/>
          <p:nvPr/>
        </p:nvSpPr>
        <p:spPr>
          <a:xfrm>
            <a:off x="762000" y="1447800"/>
            <a:ext cx="6286500" cy="3810000"/>
          </a:xfrm>
          <a:prstGeom prst="roundRect">
            <a:avLst/>
          </a:prstGeom>
          <a:solidFill>
            <a:srgbClr val="17233A"/>
          </a:solidFill>
          <a:ln w="19050">
            <a:solidFill>
              <a:srgbClr val="34D39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58ED77C-CE07-4223-82F6-EDCEFBFFE1DC}"/>
              </a:ext>
            </a:extLst>
          </p:cNvPr>
          <p:cNvSpPr txBox="1"/>
          <p:nvPr/>
        </p:nvSpPr>
        <p:spPr>
          <a:xfrm>
            <a:off x="990600" y="1638300"/>
            <a:ext cx="58293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4D399"/>
                </a:solidFill>
                <a:latin typeface="Arial"/>
                <a:ea typeface="Arial"/>
              </a:rPr>
              <a:t>BA CLIP CHUẨN CỦA NHÓM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2C7FD01-9291-4D97-8441-D94078C6C585}"/>
              </a:ext>
            </a:extLst>
          </p:cNvPr>
          <p:cNvSpPr txBox="1"/>
          <p:nvPr/>
        </p:nvSpPr>
        <p:spPr>
          <a:xfrm>
            <a:off x="990600" y="1981200"/>
            <a:ext cx="5829300" cy="200025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exchange    </a:t>
            </a: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479 frame ·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183.0 s</a:t>
            </a: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 · student_02 → suspicious_activity (79 alert)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cheatsheet  </a:t>
            </a: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448 frame ·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171.4 s</a:t>
            </a: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 · cả hai actor → c5 (không cảnh báo hành vi)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F2F5F9"/>
                </a:solidFill>
                <a:latin typeface="Arial"/>
                <a:ea typeface="Arial"/>
              </a:rPr>
              <a:t>looking     </a:t>
            </a: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532 frame · </a:t>
            </a:r>
            <a:r>
              <a:rPr sz="1400" b="1">
                <a:solidFill>
                  <a:srgbClr val="34D399"/>
                </a:solidFill>
                <a:latin typeface="Arial"/>
                <a:ea typeface="Arial"/>
              </a:rPr>
              <a:t>193.1 s</a:t>
            </a: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 · student_01 120 alert nhưng kết cục c5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A431B2F-2102-4602-9647-A131B8740FCA}"/>
              </a:ext>
            </a:extLst>
          </p:cNvPr>
          <p:cNvSpPr txBox="1"/>
          <p:nvPr/>
        </p:nvSpPr>
        <p:spPr>
          <a:xfrm>
            <a:off x="990600" y="4038600"/>
            <a:ext cx="582930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Trung bình một lượt suy luận: </a:t>
            </a:r>
            <a:r>
              <a:rPr sz="1300" b="1">
                <a:solidFill>
                  <a:srgbClr val="F2F5F9"/>
                </a:solidFill>
                <a:latin typeface="Arial"/>
                <a:ea typeface="Arial"/>
              </a:rPr>
              <a:t>vật cấm 30 ms · mặt 125–136 ms · hành vi 158–178 ms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8FA1B8"/>
                </a:solidFill>
                <a:latin typeface="Arial"/>
                <a:ea typeface="Arial"/>
              </a:rPr>
              <a:t>Mốc so sánh với bản cũ: 16.8 s video từng tốn 225.8 s → 104.1 s (2.17×).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606A5DD-C047-4A0B-A526-95C689EE943E}"/>
              </a:ext>
            </a:extLst>
          </p:cNvPr>
          <p:cNvSpPr/>
          <p:nvPr/>
        </p:nvSpPr>
        <p:spPr>
          <a:xfrm>
            <a:off x="7429500" y="1447800"/>
            <a:ext cx="4000500" cy="3810000"/>
          </a:xfrm>
          <a:prstGeom prst="roundRect">
            <a:avLst/>
          </a:prstGeom>
          <a:solidFill>
            <a:srgbClr val="17233A"/>
          </a:solidFill>
          <a:ln w="12700">
            <a:solidFill>
              <a:srgbClr val="24334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DC593D-4835-4755-9AD1-4AD3A40FA73E}"/>
              </a:ext>
            </a:extLst>
          </p:cNvPr>
          <p:cNvSpPr txBox="1"/>
          <p:nvPr/>
        </p:nvSpPr>
        <p:spPr>
          <a:xfrm>
            <a:off x="7658100" y="1676400"/>
            <a:ext cx="3543300" cy="603504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34D399"/>
                </a:solidFill>
                <a:latin typeface="Arial"/>
                <a:ea typeface="Arial"/>
              </a:rPr>
              <a:t>(video, actor_id)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mọi kết luận khoá theo từng thí sinh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31CCA6E-8BF2-4D91-BA8A-F1FB4E9D96F2}"/>
              </a:ext>
            </a:extLst>
          </p:cNvPr>
          <p:cNvSpPr txBox="1"/>
          <p:nvPr/>
        </p:nvSpPr>
        <p:spPr>
          <a:xfrm>
            <a:off x="7658100" y="2381250"/>
            <a:ext cx="35433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C7D2E0"/>
                </a:solidFill>
                <a:latin typeface="Arial"/>
                <a:ea typeface="Arial"/>
              </a:rPr>
              <a:t>report.json lưu cả actor bị kết c5, kèm first_flag_frame và config (module, stride, device) của đúng lần chạy.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95E2FC-4DDF-467F-8292-DFB2BF30A74F}"/>
              </a:ext>
            </a:extLst>
          </p:cNvPr>
          <p:cNvSpPr txBox="1"/>
          <p:nvPr/>
        </p:nvSpPr>
        <p:spPr>
          <a:xfrm>
            <a:off x="7658100" y="3619500"/>
            <a:ext cx="3543300" cy="1755648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200" b="1">
                <a:solidFill>
                  <a:srgbClr val="F2F5F9"/>
                </a:solidFill>
                <a:latin typeface="Arial"/>
                <a:ea typeface="Arial"/>
              </a:rPr>
              <a:t>0.847</a:t>
            </a:r>
            <a:r>
              <a:rPr sz="1800">
                <a:solidFill>
                  <a:srgbClr val="8FA1B8"/>
                </a:solidFill>
                <a:latin typeface="Arial"/>
                <a:ea typeface="Arial"/>
              </a:rPr>
              <a:t> / </a:t>
            </a:r>
            <a:r>
              <a:rPr sz="2200" b="1">
                <a:solidFill>
                  <a:srgbClr val="F59E0B"/>
                </a:solidFill>
                <a:latin typeface="Arial"/>
                <a:ea typeface="Arial"/>
              </a:rPr>
              <a:t>0.767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macro-F1 hành vi OOF / locked — SỐ CỦA BẢN CŨ, giữ nguyên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99.58% coverage mặt (704/707) — bản cũ; nay thêm quản lý danh tính trên UI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01C2BAD-791D-4651-B54F-9AB095A5A0C7}"/>
              </a:ext>
            </a:extLst>
          </p:cNvPr>
          <p:cNvSpPr txBox="1"/>
          <p:nvPr/>
        </p:nvSpPr>
        <p:spPr>
          <a:xfrm>
            <a:off x="762000" y="546735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FA1B8"/>
                </a:solidFill>
                <a:latin typeface="Arial"/>
                <a:ea typeface="Arial"/>
              </a:rPr>
              <a:t>Tái lập: run_offline.py &lt;video&gt;  ·  replay_realtime.py &lt;video&gt; --encode  ·  asr_ablation.py --stage asr|fusion|robust|gate  ·  bench_threads.py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